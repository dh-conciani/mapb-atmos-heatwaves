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71" r:id="rId23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69" r:id="rId18"/>
    <p:sldId id="270" r:id="rId19"/>
  </p:sldIdLst>
  <p:sldSz cy="6858000" cx="12191675"/>
  <p:notesSz cx="6858000" cy="12191675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QVlvuwQK+3bkirf3arma5oKCK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22.xml"/><Relationship Id="rId19" Type="http://schemas.openxmlformats.org/officeDocument/2006/relationships/slide" Target="slides/slide23.xml"/><Relationship Id="rId20" Type="http://schemas.openxmlformats.org/officeDocument/2006/relationships/font" Target="fonts/Play-regular.fntdata"/><Relationship Id="rId21" Type="http://schemas.openxmlformats.org/officeDocument/2006/relationships/font" Target="fonts/Play-bold.fntdata"/><Relationship Id="rId22" Type="http://customschemas.google.com/relationships/presentationmetadata" Target="metadata"/><Relationship Id="rId23" Type="http://schemas.openxmlformats.org/officeDocument/2006/relationships/slide" Target="slides/slide6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de.earthengine.google.com/5e5314a913e85c2ef0989900d38ec547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metodológica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01</a:t>
            </a:r>
          </a:p>
        </p:txBody>
      </p:sp>
      <p:sp>
        <p:nvSpPr>
          <p:cNvPr id="21" name="Google Shape;21;p1"/>
          <p:cNvSpPr/>
          <p:nvPr/>
        </p:nvSpPr>
        <p:spPr>
          <a:xfrm>
            <a:off x="0" y="73152"/>
            <a:ext cx="12191695" cy="2788920"/>
          </a:xfrm>
          <a:prstGeom prst="rect">
            <a:avLst/>
          </a:prstGeom>
          <a:solidFill>
            <a:srgbClr val="E9F4F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0" y="2862072"/>
            <a:ext cx="12191695" cy="3995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138160" y="1691640"/>
            <a:ext cx="2286000" cy="4480560"/>
          </a:xfrm>
          <a:prstGeom prst="diamond">
            <a:avLst/>
          </a:prstGeom>
          <a:solidFill>
            <a:srgbClr val="DCE56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406640" y="2788920"/>
            <a:ext cx="3931920" cy="3566160"/>
          </a:xfrm>
          <a:prstGeom prst="triangle">
            <a:avLst>
              <a:gd fmla="val 50000" name="adj"/>
            </a:avLst>
          </a:prstGeom>
          <a:solidFill>
            <a:srgbClr val="60C2D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94360" y="960120"/>
            <a:ext cx="71323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r>
              <a:rPr sz="3000" b="1">
                <a:solidFill>
                  <a:srgbClr val="0B6E4F"/>
                </a:solidFill>
                <a:latin typeface="Play"/>
              </a:rPr>
              <a:t>VALIDAÇÃO INTEGRADA</a:t>
            </a:r>
          </a:p>
          <a:p>
            <a:r>
              <a:rPr sz="3000" b="1">
                <a:solidFill>
                  <a:srgbClr val="0B6E4F"/>
                </a:solidFill>
                <a:latin typeface="Play"/>
              </a:rPr>
              <a:t>DAS ONDAS DE CALOR</a:t>
            </a:r>
          </a:p>
        </p:txBody>
      </p:sp>
      <p:sp>
        <p:nvSpPr>
          <p:cNvPr id="26" name="Google Shape;26;p1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r>
              <a:rPr sz="1320">
                <a:solidFill>
                  <a:srgbClr val="4B5A50"/>
                </a:solidFill>
                <a:latin typeface="Arial"/>
              </a:rPr>
              <a:t>Validação dos produtos V1/V2 com estações meteorológicas + diagnóstico da Tmax diária usada no ERA5-Land</a:t>
            </a:r>
          </a:p>
        </p:txBody>
      </p:sp>
      <p:sp>
        <p:nvSpPr>
          <p:cNvPr id="27" name="Google Shape;27;p1"/>
          <p:cNvSpPr/>
          <p:nvPr/>
        </p:nvSpPr>
        <p:spPr>
          <a:xfrm>
            <a:off x="8229648" y="5173605"/>
            <a:ext cx="2103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6D6D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rPr>
              <a:t>1985 a 2025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94360" y="60533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94360" y="635508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50">
                <a:solidFill>
                  <a:srgbClr val="6D6D6D"/>
                </a:solidFill>
              </a:rPr>
              <a:t>versão de discussão técnica | decisão de publicação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2</a:t>
            </a:r>
          </a:p>
        </p:txBody>
      </p:sp>
      <p:sp>
        <p:nvSpPr>
          <p:cNvPr id="40" name="Google Shape;40;p2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Resumo executivo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A evidência integrada sustenta a publicação da V2?</a:t>
            </a:r>
          </a:p>
        </p:txBody>
      </p:sp>
      <p:sp>
        <p:nvSpPr>
          <p:cNvPr id="42" name="Google Shape;42;p2"/>
          <p:cNvSpPr/>
          <p:nvPr/>
        </p:nvSpPr>
        <p:spPr>
          <a:xfrm>
            <a:off x="9829800" y="1143000"/>
            <a:ext cx="1737360" cy="4389120"/>
          </a:xfrm>
          <a:prstGeom prst="diamond">
            <a:avLst/>
          </a:prstGeom>
          <a:solidFill>
            <a:srgbClr val="EEF4ED"/>
          </a:solidFill>
          <a:ln cap="flat" cmpd="sng" w="12700">
            <a:solidFill>
              <a:srgbClr val="DCE8D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0058400" y="2284171"/>
            <a:ext cx="1280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r>
              <a:t>Recomendação</a:t>
            </a:r>
          </a:p>
          <a:p/>
          <a:p>
            <a:r>
              <a:t>V2 para dias e ocorrência</a:t>
            </a:r>
          </a:p>
          <a:p>
            <a:r>
              <a:t>Duração = cautela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594360" y="14173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Resultado central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94360" y="1764792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r>
              <a:rPr sz="1100"/>
              <a:t>A V2 é claramente superior à V1 para dias/ocorrência. A nova análise da Tmax mostra viés frio do ERA5-Land, mas também um TX90 mais baixo no próprio ERA5, compensando parte do offset absoluto.</a:t>
            </a:r>
          </a:p>
        </p:txBody>
      </p:sp>
      <p:sp>
        <p:nvSpPr>
          <p:cNvPr id="46" name="Google Shape;46;p2"/>
          <p:cNvSpPr/>
          <p:nvPr/>
        </p:nvSpPr>
        <p:spPr>
          <a:xfrm>
            <a:off x="640080" y="3154680"/>
            <a:ext cx="15087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CA2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8E2CA2"/>
                </a:solidFill>
                <a:latin typeface="Arial"/>
                <a:ea typeface="Arial"/>
                <a:cs typeface="Arial"/>
                <a:sym typeface="Arial"/>
              </a:rPr>
              <a:t>0,71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94360" y="356616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Pearson r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dias anuais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514600" y="3154680"/>
            <a:ext cx="15087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CA2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8E2CA2"/>
                </a:solidFill>
                <a:latin typeface="Arial"/>
                <a:ea typeface="Arial"/>
                <a:cs typeface="Arial"/>
                <a:sym typeface="Arial"/>
              </a:rPr>
              <a:t>12,2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468880" y="356616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dias/ano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389120" y="3154680"/>
            <a:ext cx="15087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CA2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8E2CA2"/>
                </a:solidFill>
                <a:latin typeface="Arial"/>
                <a:ea typeface="Arial"/>
                <a:cs typeface="Arial"/>
                <a:sym typeface="Arial"/>
              </a:rPr>
              <a:t>+1,0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343400" y="356616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dias/ano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263640" y="3154680"/>
            <a:ext cx="15087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CA2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8E2CA2"/>
                </a:solidFill>
                <a:latin typeface="Arial"/>
                <a:ea typeface="Arial"/>
                <a:cs typeface="Arial"/>
                <a:sym typeface="Arial"/>
              </a:rPr>
              <a:t>0,69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217920" y="356616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ocorrência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85800" y="4919472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Tmax diária: r=0,66–0,96 | bias=-0,4 a -2,9 °C | F1(TX90)=0,40–0,76</a:t>
            </a:r>
          </a:p>
        </p:txBody>
      </p:sp>
      <p:sp>
        <p:nvSpPr>
          <p:cNvPr id="55" name="Google Shape;55;p2"/>
          <p:cNvSpPr/>
          <p:nvPr/>
        </p:nvSpPr>
        <p:spPr>
          <a:xfrm>
            <a:off x="685800" y="553212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Mensagem para a equipe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743200" y="5522976"/>
            <a:ext cx="6126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1000"/>
              <a:t>A evidência apoia a publicação da V2 para heatwave_days, event_count e ocorrência mensal/anual. Duração exige nota metodológica; o viés frio e a representatividade espacial do ERA5-Land devem ser documentados.</a:t>
            </a:r>
          </a:p>
        </p:txBody>
      </p:sp>
      <p:sp>
        <p:nvSpPr>
          <p:cNvPr id="57" name="Google Shape;57;p2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Fonte dos dados: MapBiomas / ERA5-Land / listas de eventos de estações meteorológicas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88475" y="6122400"/>
            <a:ext cx="651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https://code.earthengine.google.com/5e5314a913e85c2ef0989900d38ec547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3</a:t>
            </a:r>
          </a:p>
        </p:txBody>
      </p:sp>
      <p:sp>
        <p:nvSpPr>
          <p:cNvPr id="69" name="Google Shape;69;p3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Método do produto diário V2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Baseado no script WSDI/TX90 usado para gerar o binário diário.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857232" y="1051560"/>
            <a:ext cx="1691640" cy="4526280"/>
          </a:xfrm>
          <a:prstGeom prst="diamond">
            <a:avLst/>
          </a:prstGeom>
          <a:solidFill>
            <a:srgbClr val="EEF4ED"/>
          </a:solidFill>
          <a:ln cap="flat" cmpd="sng" w="12700">
            <a:solidFill>
              <a:srgbClr val="DCE8D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0085832" y="2228393"/>
            <a:ext cx="1234440" cy="2263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TX90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6 dias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0B6E4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94360" y="1495044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161288" y="140817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Tmax diário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880360" y="1399032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ERA5-Land: temperatura máxima diária por pixel.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94360" y="2130552"/>
            <a:ext cx="384048" cy="384048"/>
          </a:xfrm>
          <a:prstGeom prst="ellipse">
            <a:avLst/>
          </a:prstGeom>
          <a:solidFill>
            <a:srgbClr val="0B6E4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94360" y="220827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161288" y="212140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Climatologia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880360" y="2112264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1991-2020; janela centrada de 5 dias por dia-calendário.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94360" y="2843784"/>
            <a:ext cx="384048" cy="384048"/>
          </a:xfrm>
          <a:prstGeom prst="ellipse">
            <a:avLst/>
          </a:prstGeom>
          <a:solidFill>
            <a:srgbClr val="0B6E4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94360" y="29215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161288" y="28346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TX90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880360" y="2825496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Percentil 90 de Tmax; 30 anos × 5 dias = 150 valores/pixel.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94360" y="3557016"/>
            <a:ext cx="384048" cy="384048"/>
          </a:xfrm>
          <a:prstGeom prst="ellipse">
            <a:avLst/>
          </a:prstGeom>
          <a:solidFill>
            <a:srgbClr val="8E2CA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94360" y="3634740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161288" y="35478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Dia quente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880360" y="3538728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Tmax(dia) &gt; TX90(dia-calendário).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94360" y="4270248"/>
            <a:ext cx="384048" cy="384048"/>
          </a:xfrm>
          <a:prstGeom prst="ellipse">
            <a:avLst/>
          </a:prstGeom>
          <a:solidFill>
            <a:srgbClr val="8E2CA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94360" y="4347972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161288" y="426110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Onda de calor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880360" y="4251960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Dia pertence a uma sequência de ≥6 dias quentes consecutivos.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94360" y="4983480"/>
            <a:ext cx="384048" cy="384048"/>
          </a:xfrm>
          <a:prstGeom prst="ellipse">
            <a:avLst/>
          </a:prstGeom>
          <a:solidFill>
            <a:srgbClr val="8E2CA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94360" y="5061204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161288" y="497433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Saída diária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880360" y="4965192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Imagem binária: 0 = sem onda; 1 = dia em onda de calor.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94360" y="5879592"/>
            <a:ext cx="8503920" cy="457200"/>
          </a:xfrm>
          <a:prstGeom prst="rect">
            <a:avLst/>
          </a:prstGeom>
          <a:solidFill>
            <a:srgbClr val="F5F8F3"/>
          </a:solidFill>
          <a:ln cap="flat" cmpd="sng" w="12700">
            <a:solidFill>
              <a:srgbClr val="DE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49808" y="6016752"/>
            <a:ext cx="8138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34A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45534A"/>
                </a:solidFill>
                <a:latin typeface="Arial"/>
                <a:ea typeface="Arial"/>
                <a:cs typeface="Arial"/>
                <a:sym typeface="Arial"/>
              </a:rPr>
              <a:t>Regras especiais documentadas: 29/fev é excluído da climatologia; em anos bissextos usa o limiar de 28/fev. Bootstrap não foi aplicado.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Base metodológica: script HeatWaves V2 (WSDI/TX90), ERA5-Land daily maximum temperature.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4</a:t>
            </a:r>
          </a:p>
        </p:txBody>
      </p:sp>
      <p:sp>
        <p:nvSpPr>
          <p:cNvPr id="110" name="Google Shape;110;p4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Da série diária à validação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A comparação usa a mesma regra temporal dos produtos agregados.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40080" y="150876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EFF6F0"/>
          </a:solidFill>
          <a:ln cap="flat" cmpd="sng" w="12700">
            <a:solidFill>
              <a:srgbClr val="0B6E4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749808" y="16733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Binário diário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49808" y="192024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Coleções V1 e V2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505456" y="1737360"/>
            <a:ext cx="228600" cy="320040"/>
          </a:xfrm>
          <a:prstGeom prst="chevron">
            <a:avLst>
              <a:gd fmla="val 50000" name="adj"/>
            </a:avLst>
          </a:prstGeom>
          <a:solidFill>
            <a:srgbClr val="D2DED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2788920" y="150876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EAF7FA"/>
          </a:solidFill>
          <a:ln cap="flat" cmpd="sng" w="12700">
            <a:solidFill>
              <a:srgbClr val="0B6E4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2898648" y="16733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Agregações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mensais/anuais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898648" y="192024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dias, eventos, duração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654296" y="1737360"/>
            <a:ext cx="228600" cy="320040"/>
          </a:xfrm>
          <a:prstGeom prst="chevron">
            <a:avLst>
              <a:gd fmla="val 50000" name="adj"/>
            </a:avLst>
          </a:prstGeom>
          <a:solidFill>
            <a:srgbClr val="D2DED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937760" y="150876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FFF4E8"/>
          </a:solidFill>
          <a:ln cap="flat" cmpd="sng" w="12700">
            <a:solidFill>
              <a:srgbClr val="0B6E4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047488" y="16733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Amostragem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urbana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047488" y="192024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centroide urbano 2025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803136" y="1737360"/>
            <a:ext cx="228600" cy="320040"/>
          </a:xfrm>
          <a:prstGeom prst="chevron">
            <a:avLst>
              <a:gd fmla="val 50000" name="adj"/>
            </a:avLst>
          </a:prstGeom>
          <a:solidFill>
            <a:srgbClr val="D2DED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086600" y="150876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F5ECF8"/>
          </a:solidFill>
          <a:ln cap="flat" cmpd="sng" w="12700">
            <a:solidFill>
              <a:srgbClr val="8E2CA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7196328" y="16733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CA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E2CA2"/>
                </a:solidFill>
                <a:latin typeface="Arial"/>
                <a:ea typeface="Arial"/>
                <a:cs typeface="Arial"/>
                <a:sym typeface="Arial"/>
              </a:rPr>
              <a:t>Comparação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CA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E2CA2"/>
                </a:solidFill>
                <a:latin typeface="Arial"/>
                <a:ea typeface="Arial"/>
                <a:cs typeface="Arial"/>
                <a:sym typeface="Arial"/>
              </a:rPr>
              <a:t>com estações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196328" y="192024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métricas estatísticas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85800" y="288036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Convenção temporal dos indicadores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77240" y="327355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heatwave_days: cada dia entra no mês/ano em que ocorreu.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77240" y="3666744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event_count: cada evento completo é contado no período em que termina.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77240" y="405993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max_event_duration e mean_event_duration: calculadas apenas para eventos completos que terminam no período.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777240" y="4453128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Sem evento completo = duração indefinida, não zero.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85800" y="507492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Métricas usadas para defender a versão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77240" y="544068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Pearson r = variabilidade temporal | CCC = concordância | RMSE = erro típico | Bias = tendência média | F1/Recall = detecção de ocorrência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9784080" y="1234440"/>
            <a:ext cx="1783080" cy="4389120"/>
          </a:xfrm>
          <a:prstGeom prst="diamond">
            <a:avLst/>
          </a:prstGeom>
          <a:solidFill>
            <a:srgbClr val="EEF4ED"/>
          </a:solidFill>
          <a:ln cap="flat" cmpd="sng" w="12700">
            <a:solidFill>
              <a:srgbClr val="DCE8D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0012680" y="2375611"/>
            <a:ext cx="1325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Regra-chave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eventos não são quebrados na virada de mês/ano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Fonte dos dados: MapBiomas / ERA5-Land / listas de eventos de estações meteorológicas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5</a:t>
            </a:r>
          </a:p>
        </p:txBody>
      </p:sp>
      <p:sp>
        <p:nvSpPr>
          <p:cNvPr id="147" name="Google Shape;147;p5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Onde a validação foi feita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Nove capitais com listas de eventos de estações meteorológicas.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apbiomas_validation_deck_assets_v4/validation_sites_map.png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4" y="1307600"/>
            <a:ext cx="5042326" cy="512062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8092440" y="1097280"/>
            <a:ext cx="2788920" cy="4937760"/>
          </a:xfrm>
          <a:prstGeom prst="diamond">
            <a:avLst/>
          </a:prstGeom>
          <a:solidFill>
            <a:srgbClr val="EEF4ED"/>
          </a:solidFill>
          <a:ln cap="flat" cmpd="sng" w="12700">
            <a:solidFill>
              <a:srgbClr val="DCE8D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321040" y="2381098"/>
            <a:ext cx="2331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Ponto de comparação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Centroide ponderado pela área urbana MapBiomas 2025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(classe 24)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Uma localização fixa por cidade para 1985-2025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138160" y="53035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Por que centroide urbano?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138160" y="5623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Evita escolher uma estação isolada como referência espacial e aproxima a comparação da exposição urbana.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Fonte dos dados: MapBiomas / ERA5-Land / listas de eventos de estações meteorológicas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0" cy="73152"/>
          </a:xfrm>
          <a:prstGeom prst="rect">
            <a:avLst/>
          </a:prstGeom>
          <a:solidFill>
            <a:srgbClr val="56B6C7"/>
          </a:solidFill>
          <a:ln>
            <a:solidFill>
              <a:srgbClr val="56B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0" y="0"/>
            <a:ext cx="2880360" cy="73152"/>
          </a:xfrm>
          <a:prstGeom prst="rect">
            <a:avLst/>
          </a:prstGeom>
          <a:solidFill>
            <a:srgbClr val="F2A23A"/>
          </a:solidFill>
          <a:ln>
            <a:solidFill>
              <a:srgbClr val="F2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3593592" cy="73152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B6E4F"/>
                </a:solidFill>
                <a:latin typeface="Arial"/>
              </a:rPr>
              <a:t>MAPBIOMAS ATMOSFERA | Validação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66928"/>
            <a:ext cx="11064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6E4F"/>
                </a:solidFill>
                <a:latin typeface="Play"/>
              </a:rPr>
              <a:t>Duas linhas de evidência complementares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5A50"/>
                </a:solidFill>
                <a:latin typeface="Arial"/>
              </a:rPr>
              <a:t>A decisão de publicação não depende de uma única validação.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5074920" cy="3977639"/>
          </a:xfrm>
          <a:prstGeom prst="roundRect">
            <a:avLst/>
          </a:prstGeom>
          <a:solidFill>
            <a:srgbClr val="F4F8F6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508760"/>
            <a:ext cx="5074920" cy="3977639"/>
          </a:xfrm>
          <a:prstGeom prst="roundRect">
            <a:avLst/>
          </a:prstGeom>
          <a:solidFill>
            <a:srgbClr val="F7F3FA"/>
          </a:solidFill>
          <a:ln>
            <a:solidFill>
              <a:srgbClr val="E8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1627632"/>
            <a:ext cx="566928" cy="566928"/>
          </a:xfrm>
          <a:prstGeom prst="ellipse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627632"/>
            <a:ext cx="37490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6E4F"/>
                </a:solidFill>
                <a:latin typeface="Arial"/>
              </a:rPr>
              <a:t>Validação do produto 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48840"/>
            <a:ext cx="44348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32C"/>
                </a:solidFill>
                <a:latin typeface="Arial"/>
              </a:rPr>
              <a:t>Listas de eventos de estações → comparação com os agregados V1/V2.
Escalas: anual e mensal.
Indicadores: heatwave_days, event_count, duração máxima/média.
Métricas: Pearson r, CCC, RMSE, Bias, F1 e Recall.</a:t>
            </a:r>
          </a:p>
        </p:txBody>
      </p:sp>
      <p:sp>
        <p:nvSpPr>
          <p:cNvPr id="15" name="Oval 14"/>
          <p:cNvSpPr/>
          <p:nvPr/>
        </p:nvSpPr>
        <p:spPr>
          <a:xfrm>
            <a:off x="6784848" y="1627632"/>
            <a:ext cx="566928" cy="566928"/>
          </a:xfrm>
          <a:prstGeom prst="ellipse">
            <a:avLst/>
          </a:prstGeom>
          <a:solidFill>
            <a:srgbClr val="8E2CA2"/>
          </a:solidFill>
          <a:ln>
            <a:solidFill>
              <a:srgbClr val="8E2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73736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627632"/>
            <a:ext cx="37490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E2CA2"/>
                </a:solidFill>
                <a:latin typeface="Arial"/>
              </a:rPr>
              <a:t>Validação do dado de entrada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148840"/>
            <a:ext cx="44348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32C"/>
                </a:solidFill>
                <a:latin typeface="Arial"/>
              </a:rPr>
              <a:t>Tmax diária das estações → ERA5-Land temperature_2m_max no mesmo ponto de referência urbana.
Período: 1985–2025.
Diagnósticos: bias/RMSE, sazonalidade, extremos, TX90, lag temporal e persistência ≥6 dias.</a:t>
            </a:r>
          </a:p>
        </p:txBody>
      </p:sp>
      <p:sp>
        <p:nvSpPr>
          <p:cNvPr id="19" name="Diamond 18"/>
          <p:cNvSpPr/>
          <p:nvPr/>
        </p:nvSpPr>
        <p:spPr>
          <a:xfrm>
            <a:off x="5376672" y="2468880"/>
            <a:ext cx="1417320" cy="1417320"/>
          </a:xfrm>
          <a:prstGeom prst="diamond">
            <a:avLst/>
          </a:prstGeom>
          <a:solidFill>
            <a:srgbClr val="EAF1EB"/>
          </a:solidFill>
          <a:ln>
            <a:solidFill>
              <a:srgbClr val="E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843784"/>
            <a:ext cx="685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B6E4F"/>
                </a:solidFill>
                <a:latin typeface="Arial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5687568"/>
            <a:ext cx="8366760" cy="566928"/>
          </a:xfrm>
          <a:prstGeom prst="roundRect">
            <a:avLst/>
          </a:prstGeom>
          <a:solidFill>
            <a:srgbClr val="EAF1EB"/>
          </a:solidFill>
          <a:ln>
            <a:solidFill>
              <a:srgbClr val="EA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5833872"/>
            <a:ext cx="7909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6E4F"/>
                </a:solidFill>
                <a:latin typeface="Arial"/>
              </a:rPr>
              <a:t>Convergência das duas linhas de evidência = argumento mais robusto para viabilidade de publicação.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537960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7D8A82"/>
                </a:solidFill>
                <a:latin typeface="Arial"/>
              </a:rPr>
              <a:t>Fonte dos dados: MapBiomas / ERA5-Land / estações meteorológicas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7</a:t>
            </a:r>
          </a:p>
        </p:txBody>
      </p:sp>
      <p:sp>
        <p:nvSpPr>
          <p:cNvPr id="165" name="Google Shape;165;p6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Resultado anual: V2 é claramente superior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O ganho aparece simultaneamente em associação, erro, viés e detecção.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apbiomas_validation_deck_assets_v4/scorecard_pretty.png"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34440"/>
            <a:ext cx="873252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9601200" y="1143000"/>
            <a:ext cx="2057400" cy="4709160"/>
          </a:xfrm>
          <a:prstGeom prst="diamond">
            <a:avLst/>
          </a:prstGeom>
          <a:solidFill>
            <a:srgbClr val="EEF4ED"/>
          </a:solidFill>
          <a:ln cap="flat" cmpd="sng" w="12700">
            <a:solidFill>
              <a:srgbClr val="DCE8D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9829800" y="2367382"/>
            <a:ext cx="1600200" cy="2354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Leitura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Não é apenas maior correlação.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A V2 também reduz o erro e detecta mais eventos verdadeiros.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Fonte dos dados: MapBiomas / ERA5-Land / listas de eventos de estações meteorológicas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8</a:t>
            </a:r>
          </a:p>
        </p:txBody>
      </p:sp>
      <p:sp>
        <p:nvSpPr>
          <p:cNvPr id="181" name="Google Shape;181;p7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Comparação direta: estações × MapBiomas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Cada ponto representa uma capital em um ano.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apbiomas_validation_deck_assets_v4/scatter_v1_v2_pretty.png"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69337"/>
            <a:ext cx="11155682" cy="5303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Linha 1:1 = concordância perfeita. Regressão em laranja. Métrica: dias anuais com onda de calor.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9</a:t>
            </a:r>
          </a:p>
        </p:txBody>
      </p:sp>
      <p:sp>
        <p:nvSpPr>
          <p:cNvPr id="195" name="Google Shape;195;p8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Série bruta por capital e ano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Barras = V1/V2; linha preta = estação meteorológica.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apbiomas_validation_deck_assets_v4/raw_annual_days_city_bars_pretty.png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5" y="1345175"/>
            <a:ext cx="9020701" cy="494489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502920" y="6327648"/>
            <a:ext cx="9784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Este gráfico é diagnóstico: mostra onde há não detecção, superestimação ou bons acertos ano a ano.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10</a:t>
            </a:r>
          </a:p>
        </p:txBody>
      </p:sp>
      <p:sp>
        <p:nvSpPr>
          <p:cNvPr id="209" name="Google Shape;209;p9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Desempenho por capital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Correlação e erro devem ser avaliados juntos.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apbiomas_validation_deck_assets_v4/by_city_pearson_rmse_pretty.png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250" y="1324069"/>
            <a:ext cx="10972800" cy="507491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Correlação alta não garante erro baixo; Manaus e Belo Horizonte ilustram essa diferença.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11</a:t>
            </a:r>
          </a:p>
        </p:txBody>
      </p:sp>
      <p:sp>
        <p:nvSpPr>
          <p:cNvPr id="223" name="Google Shape;223;p10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Detecção de ocorrência: anual e mensal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F1-score combina precisão e recall para anos/meses com evento.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apbiomas_validation_deck_assets_v4/f1_detection_annual_monthly_pretty.png" id="225" name="Google Shape;2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801" y="1317551"/>
            <a:ext cx="1097280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/>
          <p:nvPr/>
        </p:nvSpPr>
        <p:spPr>
          <a:xfrm>
            <a:off x="9584905" y="566915"/>
            <a:ext cx="2011800" cy="1326000"/>
          </a:xfrm>
          <a:prstGeom prst="diamond">
            <a:avLst/>
          </a:prstGeom>
          <a:solidFill>
            <a:srgbClr val="F4F8F3"/>
          </a:solidFill>
          <a:ln cap="flat" cmpd="sng" w="12700">
            <a:solidFill>
              <a:srgbClr val="DCE8D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9813505" y="911644"/>
            <a:ext cx="155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V2 detecta mais eventos verdadeiros, mas ainda exige cautela em falsos positivos.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Fonte dos dados: MapBiomas / ERA5-Land / listas de eventos de estações meteorológicas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12</a:t>
            </a:r>
          </a:p>
        </p:txBody>
      </p:sp>
      <p:sp>
        <p:nvSpPr>
          <p:cNvPr id="239" name="Google Shape;239;p11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Dados mensais: desempenho também melhora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A comparação mensal avalia se os produtos acertam a época dos eventos.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apbiomas_validation_deck_assets_v4/monthly_scorecard_pretty.png" id="241" name="Google Shape;2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49460"/>
            <a:ext cx="6629398" cy="310895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1"/>
          <p:cNvSpPr/>
          <p:nvPr/>
        </p:nvSpPr>
        <p:spPr>
          <a:xfrm>
            <a:off x="8458200" y="273867"/>
            <a:ext cx="2331600" cy="4343400"/>
          </a:xfrm>
          <a:prstGeom prst="diamond">
            <a:avLst/>
          </a:prstGeom>
          <a:solidFill>
            <a:srgbClr val="EEF4ED"/>
          </a:solidFill>
          <a:ln cap="flat" cmpd="sng" w="12700">
            <a:solidFill>
              <a:srgbClr val="DCE8D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8686800" y="1403151"/>
            <a:ext cx="18744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Resultado mensal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0"/>
              <a:buFont typeface="Arial"/>
              <a:buNone/>
            </a:pPr>
            <a:r>
              <a:t/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A V2 mantém vantagem na escala mensal, sobretudo na detecção de ocorrência.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77240" y="4892040"/>
            <a:ext cx="9875520" cy="731520"/>
          </a:xfrm>
          <a:prstGeom prst="rect">
            <a:avLst/>
          </a:prstGeom>
          <a:solidFill>
            <a:srgbClr val="F5F8F3"/>
          </a:solidFill>
          <a:ln cap="flat" cmpd="sng" w="12700">
            <a:solidFill>
              <a:srgbClr val="DE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960120" y="507492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2148840" y="5056632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 resultado mensal é mais exigente que o anual: além de detectar o evento, a versão precisa posicioná-lo no mês correto.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Métricas mensais calculadas para 9 capitais × 41 anos × 12 meses.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13</a:t>
            </a:r>
          </a:p>
        </p:txBody>
      </p:sp>
      <p:sp>
        <p:nvSpPr>
          <p:cNvPr id="258" name="Google Shape;258;p12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Dados mensais: sazonalidade média por capital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Média mensal de dias com onda de calor por ano, 1985-2025.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apbiomas_validation_deck_assets_v4/monthly_seasonality_pretty.png" id="260" name="Google Shape;2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6" y="1344163"/>
            <a:ext cx="8926353" cy="503518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2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Linhas: estação meteorológica, V1 e V2. Sombra roxa destaca a sazonalidade capturada pela V2.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14</a:t>
            </a:r>
          </a:p>
        </p:txBody>
      </p:sp>
      <p:sp>
        <p:nvSpPr>
          <p:cNvPr id="272" name="Google Shape;272;p13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B6E4F"/>
                </a:solidFill>
                <a:latin typeface="Play"/>
                <a:ea typeface="Play"/>
                <a:cs typeface="Play"/>
                <a:sym typeface="Play"/>
              </a:rPr>
              <a:t>Duração dos eventos: resultado mais cauteloso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A50"/>
                </a:solidFill>
                <a:latin typeface="Arial"/>
                <a:ea typeface="Arial"/>
                <a:cs typeface="Arial"/>
                <a:sym typeface="Arial"/>
              </a:rPr>
              <a:t>A vantagem da V2 é forte em ocorrência; para duração, o resultado é misto.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mapbiomas_validation_deck_assets_v4/duration_common_support_pretty.png" id="274" name="Google Shape;2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25880"/>
            <a:ext cx="585216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3"/>
          <p:cNvSpPr/>
          <p:nvPr/>
        </p:nvSpPr>
        <p:spPr>
          <a:xfrm>
            <a:off x="7132320" y="13258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Por que é mais difícil?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7269480" y="17830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Duração só existe quando há evento detectado.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7269480" y="235000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V1 e V2 detectam conjuntos diferentes de eventos.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7269480" y="291693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 comparação justa usa apenas períodos em que estação, V1 e V2 têm duração definida.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7269480" y="348386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Recomendação: publicar duração com nota metodológica e análise de sensibilidade.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7818120" y="4572000"/>
            <a:ext cx="2468880" cy="1463040"/>
          </a:xfrm>
          <a:prstGeom prst="diamond">
            <a:avLst/>
          </a:prstGeom>
          <a:solidFill>
            <a:srgbClr val="EEF4ED"/>
          </a:solidFill>
          <a:ln cap="flat" cmpd="sng" w="12700">
            <a:solidFill>
              <a:srgbClr val="DCE8D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8046720" y="495239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Mensagem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V2 é recomendada para ocorrência e dias; duração requer cautela.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Fonte dos dados: MapBiomas / ERA5-Land / listas de eventos de estações meteorológicas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0" cy="73152"/>
          </a:xfrm>
          <a:prstGeom prst="rect">
            <a:avLst/>
          </a:prstGeom>
          <a:solidFill>
            <a:srgbClr val="56B6C7"/>
          </a:solidFill>
          <a:ln>
            <a:solidFill>
              <a:srgbClr val="56B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0" y="0"/>
            <a:ext cx="2880360" cy="73152"/>
          </a:xfrm>
          <a:prstGeom prst="rect">
            <a:avLst/>
          </a:prstGeom>
          <a:solidFill>
            <a:srgbClr val="F2A23A"/>
          </a:solidFill>
          <a:ln>
            <a:solidFill>
              <a:srgbClr val="F2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3593592" cy="73152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B6E4F"/>
                </a:solidFill>
                <a:latin typeface="Arial"/>
              </a:rPr>
              <a:t>MAPBIOMAS ATMOSFERA | Validação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66928"/>
            <a:ext cx="11064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6E4F"/>
                </a:solidFill>
                <a:latin typeface="Play"/>
              </a:rPr>
              <a:t>Características da nova comparação de Tmax diária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5A50"/>
                </a:solidFill>
                <a:latin typeface="Arial"/>
              </a:rPr>
              <a:t>O objetivo é entender onde, quando e por que ERA5-Land e estações divergem.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148840" cy="1051560"/>
          </a:xfrm>
          <a:prstGeom prst="roundRect">
            <a:avLst/>
          </a:prstGeom>
          <a:solidFill>
            <a:srgbClr val="F6F7F3"/>
          </a:solidFill>
          <a:ln>
            <a:solidFill>
              <a:srgbClr val="E3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18196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B6E4F"/>
                </a:solidFill>
                <a:latin typeface="Arial"/>
              </a:rPr>
              <a:t>14.975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56816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5B675F"/>
                </a:solidFill>
                <a:latin typeface="Arial"/>
              </a:rPr>
              <a:t>dias por capital | 1985–2025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417320"/>
            <a:ext cx="2148840" cy="1051560"/>
          </a:xfrm>
          <a:prstGeom prst="roundRect">
            <a:avLst/>
          </a:prstGeom>
          <a:solidFill>
            <a:srgbClr val="F6F7F3"/>
          </a:solidFill>
          <a:ln>
            <a:solidFill>
              <a:srgbClr val="E3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527048"/>
            <a:ext cx="18196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6B6C7"/>
                </a:solidFill>
                <a:latin typeface="Arial"/>
              </a:rPr>
              <a:t>134.775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956816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5B675F"/>
                </a:solidFill>
                <a:latin typeface="Arial"/>
              </a:rPr>
              <a:t>pares diários esperados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417320"/>
            <a:ext cx="2148840" cy="1051560"/>
          </a:xfrm>
          <a:prstGeom prst="roundRect">
            <a:avLst/>
          </a:prstGeom>
          <a:solidFill>
            <a:srgbClr val="F6F7F3"/>
          </a:solidFill>
          <a:ln>
            <a:solidFill>
              <a:srgbClr val="E3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1527048"/>
            <a:ext cx="18196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A23A"/>
                </a:solidFill>
                <a:latin typeface="Arial"/>
              </a:rPr>
              <a:t>99,54%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56816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5B675F"/>
                </a:solidFill>
                <a:latin typeface="Arial"/>
              </a:rPr>
              <a:t>pares com observação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417320"/>
            <a:ext cx="2148840" cy="1051560"/>
          </a:xfrm>
          <a:prstGeom prst="roundRect">
            <a:avLst/>
          </a:prstGeom>
          <a:solidFill>
            <a:srgbClr val="F6F7F3"/>
          </a:solidFill>
          <a:ln>
            <a:solidFill>
              <a:srgbClr val="E3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1527048"/>
            <a:ext cx="18196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8E2CA2"/>
                </a:solidFill>
                <a:latin typeface="Arial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956816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5B675F"/>
                </a:solidFill>
                <a:latin typeface="Arial"/>
              </a:rPr>
              <a:t>cobertura ERA5-Land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417320"/>
            <a:ext cx="1874519" cy="1051560"/>
          </a:xfrm>
          <a:prstGeom prst="roundRect">
            <a:avLst/>
          </a:prstGeom>
          <a:solidFill>
            <a:srgbClr val="F6F7F3"/>
          </a:solidFill>
          <a:ln>
            <a:solidFill>
              <a:srgbClr val="E3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94392" y="1527048"/>
            <a:ext cx="1545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B6E4F"/>
                </a:solidFill>
                <a:latin typeface="Arial"/>
              </a:rPr>
              <a:t>98,4–99,9%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956816"/>
            <a:ext cx="160019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5B675F"/>
                </a:solidFill>
                <a:latin typeface="Arial"/>
              </a:rPr>
              <a:t>cobertura por capital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788920"/>
            <a:ext cx="5440680" cy="2423160"/>
          </a:xfrm>
          <a:prstGeom prst="roundRect">
            <a:avLst/>
          </a:prstGeom>
          <a:solidFill>
            <a:srgbClr val="F4F8F6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03580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6E4F"/>
                </a:solidFill>
                <a:latin typeface="Arial"/>
              </a:rPr>
              <a:t>Referência espacial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493008"/>
            <a:ext cx="46634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32C"/>
                </a:solidFill>
                <a:latin typeface="Arial"/>
              </a:rPr>
              <a:t>• Mesmo centroide urbano fixo usado na validação das ondas de calor.
• ERA5-Land: célula ~11 km; estação: observação pontual.
• O ponto ERA5 representa a exposição urbana média, não a coordenada exata da estação.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788920"/>
            <a:ext cx="5349240" cy="2423160"/>
          </a:xfrm>
          <a:prstGeom prst="roundRect">
            <a:avLst/>
          </a:prstGeom>
          <a:solidFill>
            <a:srgbClr val="F7F3FA"/>
          </a:solidFill>
          <a:ln>
            <a:solidFill>
              <a:srgbClr val="E8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03580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E2CA2"/>
                </a:solidFill>
                <a:latin typeface="Arial"/>
              </a:rPr>
              <a:t>Comparabilidade temporal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93008"/>
            <a:ext cx="4572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32C"/>
                </a:solidFill>
                <a:latin typeface="Arial"/>
              </a:rPr>
              <a:t>• Mesmas datas diárias de 1985–2025.
• Teste de lag em −2, −1, 0, +1, +2 dias.
• Em todas as capitais, a maior correlação ocorre em lag = 0.
• Não há evidência de um erro sistemático simples de calendário de 1 dia.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59552"/>
            <a:ext cx="10789920" cy="585216"/>
          </a:xfrm>
          <a:prstGeom prst="roundRect">
            <a:avLst/>
          </a:prstGeom>
          <a:solidFill>
            <a:srgbClr val="FFF6E8"/>
          </a:solidFill>
          <a:ln>
            <a:solidFill>
              <a:srgbClr val="F3D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724144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C4C1C"/>
                </a:solidFill>
                <a:latin typeface="Arial"/>
              </a:rPr>
              <a:t>Cautela: diferenças podem refletir resolução espacial, altitude, ilha de calor urbana, posição/relocação da estação e não apenas erro da reanálise.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537960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7D8A82"/>
                </a:solidFill>
                <a:latin typeface="Arial"/>
              </a:rPr>
              <a:t>Fonte dos dados: MapBiomas / ERA5-Land / estações meteorológicas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0" cy="73152"/>
          </a:xfrm>
          <a:prstGeom prst="rect">
            <a:avLst/>
          </a:prstGeom>
          <a:solidFill>
            <a:srgbClr val="56B6C7"/>
          </a:solidFill>
          <a:ln>
            <a:solidFill>
              <a:srgbClr val="56B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0" y="0"/>
            <a:ext cx="2880360" cy="73152"/>
          </a:xfrm>
          <a:prstGeom prst="rect">
            <a:avLst/>
          </a:prstGeom>
          <a:solidFill>
            <a:srgbClr val="F2A23A"/>
          </a:solidFill>
          <a:ln>
            <a:solidFill>
              <a:srgbClr val="F2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3593592" cy="73152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B6E4F"/>
                </a:solidFill>
                <a:latin typeface="Arial"/>
              </a:rPr>
              <a:t>MAPBIOMAS ATMOSFERA | Validação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66928"/>
            <a:ext cx="11064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6E4F"/>
                </a:solidFill>
                <a:latin typeface="Play"/>
              </a:rPr>
              <a:t>Tmax diária: boa covariação, mas viés frio sistemático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5A50"/>
                </a:solidFill>
                <a:latin typeface="Arial"/>
              </a:rPr>
              <a:t>ERA5-Land acompanha a variabilidade diária, porém é mais frio que as estações em todas as capitais.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2560320" cy="1051560"/>
          </a:xfrm>
          <a:prstGeom prst="roundRect">
            <a:avLst/>
          </a:prstGeom>
          <a:solidFill>
            <a:srgbClr val="F6F7F3"/>
          </a:solidFill>
          <a:ln>
            <a:solidFill>
              <a:srgbClr val="E3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35607"/>
            <a:ext cx="2231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B6E4F"/>
                </a:solidFill>
                <a:latin typeface="Arial"/>
              </a:rPr>
              <a:t>0,66–0,96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6537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5B675F"/>
                </a:solidFill>
                <a:latin typeface="Arial"/>
              </a:rPr>
              <a:t>Pearson r diário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325880"/>
            <a:ext cx="2560320" cy="1051560"/>
          </a:xfrm>
          <a:prstGeom prst="roundRect">
            <a:avLst/>
          </a:prstGeom>
          <a:solidFill>
            <a:srgbClr val="F6F7F3"/>
          </a:solidFill>
          <a:ln>
            <a:solidFill>
              <a:srgbClr val="E3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1435607"/>
            <a:ext cx="2231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8E2CA2"/>
                </a:solidFill>
                <a:latin typeface="Arial"/>
              </a:rPr>
              <a:t>−0,4 a −2,9 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186537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5B675F"/>
                </a:solidFill>
                <a:latin typeface="Arial"/>
              </a:rPr>
              <a:t>bias médio ERA5 − estação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560320" cy="1051560"/>
          </a:xfrm>
          <a:prstGeom prst="roundRect">
            <a:avLst/>
          </a:prstGeom>
          <a:solidFill>
            <a:srgbClr val="F6F7F3"/>
          </a:solidFill>
          <a:ln>
            <a:solidFill>
              <a:srgbClr val="E3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435607"/>
            <a:ext cx="2231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A23A"/>
                </a:solidFill>
                <a:latin typeface="Arial"/>
              </a:rPr>
              <a:t>1,33–3,25 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86537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5B675F"/>
                </a:solidFill>
                <a:latin typeface="Arial"/>
              </a:rPr>
              <a:t>RMSE diário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325880"/>
            <a:ext cx="2560320" cy="1051560"/>
          </a:xfrm>
          <a:prstGeom prst="roundRect">
            <a:avLst/>
          </a:prstGeom>
          <a:solidFill>
            <a:srgbClr val="F6F7F3"/>
          </a:solidFill>
          <a:ln>
            <a:solidFill>
              <a:srgbClr val="E3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1435607"/>
            <a:ext cx="2231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6B6C7"/>
                </a:solidFill>
                <a:latin typeface="Arial"/>
              </a:rPr>
              <a:t>Brasília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6537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5B675F"/>
                </a:solidFill>
                <a:latin typeface="Arial"/>
              </a:rPr>
              <a:t>menor RMSE | 1,33 °C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2788920"/>
          <a:ext cx="749807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Capital</a:t>
                      </a:r>
                    </a:p>
                  </a:txBody>
                  <a:tcPr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Pearson r</a:t>
                      </a:r>
                    </a:p>
                  </a:txBody>
                  <a:tcPr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Bias (°C)</a:t>
                      </a:r>
                    </a:p>
                  </a:txBody>
                  <a:tcPr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RMSE (°C)</a:t>
                      </a:r>
                    </a:p>
                  </a:txBody>
                  <a:tcPr>
                    <a:solidFill>
                      <a:srgbClr val="0B6E4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Brasília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0.86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-0.39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1.33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Curitiba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0.94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-1.97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2.51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Goiânia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0.85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8E2CA2"/>
                          </a:solidFill>
                          <a:latin typeface="Arial"/>
                        </a:rPr>
                        <a:t>-2.92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3.25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Manaus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0.74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8E2CA2"/>
                          </a:solidFill>
                          <a:latin typeface="Arial"/>
                        </a:rPr>
                        <a:t>-2.47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2.91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Porto Alegre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0.96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-1.61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2.28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Salvador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0.85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-1.93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2.23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São Paulo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0.93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-1.95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2.56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Belém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0.66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-1.67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2.19</a:t>
                      </a:r>
                    </a:p>
                  </a:txBody>
                  <a:tcPr>
                    <a:solidFill>
                      <a:srgbClr val="EDF3E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Belo Horizonte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0.88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-2.02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6332C"/>
                          </a:solidFill>
                          <a:latin typeface="Arial"/>
                        </a:rPr>
                        <a:t>2.49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549640" y="2788920"/>
            <a:ext cx="3063240" cy="2971800"/>
          </a:xfrm>
          <a:prstGeom prst="roundRect">
            <a:avLst/>
          </a:prstGeom>
          <a:solidFill>
            <a:srgbClr val="F6F7F3"/>
          </a:solidFill>
          <a:ln>
            <a:solidFill>
              <a:srgbClr val="E3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30632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6E4F"/>
                </a:solidFill>
                <a:latin typeface="Arial"/>
              </a:rPr>
              <a:t>Leitura técnica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547872"/>
            <a:ext cx="23317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6332C"/>
                </a:solidFill>
                <a:latin typeface="Arial"/>
              </a:rPr>
              <a:t>• Porto Alegre, Curitiba e São Paulo têm correlações diárias muito altas.
• Brasília tem o menor erro absoluto.
• Goiânia e Manaus concentram os maiores desvios de magnitude.
• Correlação alta ≠ ausência de bias.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37960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7D8A82"/>
                </a:solidFill>
                <a:latin typeface="Arial"/>
              </a:rPr>
              <a:t>Fonte dos dados: MapBiomas / ERA5-Land / estações meteorológicas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0" cy="73152"/>
          </a:xfrm>
          <a:prstGeom prst="rect">
            <a:avLst/>
          </a:prstGeom>
          <a:solidFill>
            <a:srgbClr val="56B6C7"/>
          </a:solidFill>
          <a:ln>
            <a:solidFill>
              <a:srgbClr val="56B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0" y="0"/>
            <a:ext cx="2880360" cy="73152"/>
          </a:xfrm>
          <a:prstGeom prst="rect">
            <a:avLst/>
          </a:prstGeom>
          <a:solidFill>
            <a:srgbClr val="F2A23A"/>
          </a:solidFill>
          <a:ln>
            <a:solidFill>
              <a:srgbClr val="F2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B6E4F"/>
                </a:solidFill>
                <a:latin typeface="Arial"/>
              </a:rPr>
              <a:t>MAPBIOMAS ATMOSFERA | Validação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66928"/>
            <a:ext cx="11064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6E4F"/>
                </a:solidFill>
                <a:latin typeface="Play"/>
              </a:rPr>
              <a:t>Quando o viés é maior?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>
                <a:solidFill>
                  <a:srgbClr val="4B5A50"/>
                </a:solidFill>
                <a:latin typeface="Arial"/>
              </a:rPr>
              <a:t>O desvio possui estrutura sazonal, e o offset anual ajuda a interpretar casos como Manaus, Salvador e Belém.</a:t>
            </a:r>
          </a:p>
        </p:txBody>
      </p:sp>
      <p:pic>
        <p:nvPicPr>
          <p:cNvPr id="9" name="Picture 8" descr="monthly_bias_heatmap_fact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909560" cy="36597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98932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1">
                <a:solidFill>
                  <a:srgbClr val="5B675F"/>
                </a:solidFill>
                <a:latin typeface="Arial"/>
              </a:rPr>
              <a:t>Mudanças de longo prazo no bias exigem cautela: podem envolver relocação/instrumentação da estação, urbanização ou diferenças reais de representatividade espacial.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37960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7D8A82"/>
                </a:solidFill>
                <a:latin typeface="Arial"/>
              </a:rPr>
              <a:t>Fonte dos dados: MapBiomas / ERA5-Land / estações meteorológicas</a:t>
            </a:r>
          </a:p>
        </p:txBody>
      </p:sp>
      <p:pic>
        <p:nvPicPr>
          <p:cNvPr id="16" name="Picture 15" descr="annual_bias_trends_updated_for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17320"/>
            <a:ext cx="3657600" cy="190085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183879" y="4434840"/>
            <a:ext cx="3154680" cy="1417320"/>
          </a:xfrm>
          <a:prstGeom prst="roundRect">
            <a:avLst/>
          </a:prstGeom>
          <a:solidFill>
            <a:srgbClr val="F4F8F6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4617720"/>
            <a:ext cx="2468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0B6E4F"/>
                </a:solidFill>
                <a:latin typeface="Arial"/>
              </a:rPr>
              <a:t>Leitura direta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4919472"/>
            <a:ext cx="267004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26332C"/>
                </a:solidFill>
                <a:latin typeface="Arial"/>
              </a:rPr>
              <a:t>• Goiânia: maior offset estrutural (~−3 °C).
• Brasília: menor offset; pode se aproximar de 0 °C.
• Belém: maior mudança temporal do viés.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50408"/>
            <a:ext cx="10652760" cy="658368"/>
          </a:xfrm>
          <a:prstGeom prst="roundRect">
            <a:avLst/>
          </a:prstGeom>
          <a:solidFill>
            <a:srgbClr val="FFF6E8"/>
          </a:solidFill>
          <a:ln>
            <a:solidFill>
              <a:srgbClr val="F3D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7058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1">
                <a:solidFill>
                  <a:srgbClr val="6C4C1C"/>
                </a:solidFill>
                <a:latin typeface="Arial"/>
              </a:rPr>
              <a:t>Destaque anual: Manaus mantém viés frio, mas ele fica menos negativo nos anos recentes; com TX90 baseado em 1991–2020, isso ajuda a explicar a sobre-detecção relativa. Salvador também tem viés frio persistente, mas o problema principal parece ser a baixa persistência/concordância dos eventos.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0" cy="73152"/>
          </a:xfrm>
          <a:prstGeom prst="rect">
            <a:avLst/>
          </a:prstGeom>
          <a:solidFill>
            <a:srgbClr val="56B6C7"/>
          </a:solidFill>
          <a:ln>
            <a:solidFill>
              <a:srgbClr val="56B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0" y="0"/>
            <a:ext cx="2880360" cy="73152"/>
          </a:xfrm>
          <a:prstGeom prst="rect">
            <a:avLst/>
          </a:prstGeom>
          <a:solidFill>
            <a:srgbClr val="F2A23A"/>
          </a:solidFill>
          <a:ln>
            <a:solidFill>
              <a:srgbClr val="F2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3593592" cy="73152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B6E4F"/>
                </a:solidFill>
                <a:latin typeface="Arial"/>
              </a:rPr>
              <a:t>MAPBIOMAS ATMOSFERA | Validação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66928"/>
            <a:ext cx="11064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6E4F"/>
                </a:solidFill>
                <a:latin typeface="Play"/>
              </a:rPr>
              <a:t>Nos dias quentes, o ERA5-Land fica ainda mais frio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5A50"/>
                </a:solidFill>
                <a:latin typeface="Arial"/>
              </a:rPr>
              <a:t>O viés condicionado aos extremos é mais negativo em todas as nove capitais.</a:t>
            </a:r>
          </a:p>
        </p:txBody>
      </p:sp>
      <p:pic>
        <p:nvPicPr>
          <p:cNvPr id="9" name="Picture 8" descr="hot_vs_other_bias_fact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680960" cy="343902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58200" y="1554480"/>
            <a:ext cx="3063240" cy="4160520"/>
          </a:xfrm>
          <a:prstGeom prst="roundRect">
            <a:avLst/>
          </a:prstGeom>
          <a:solidFill>
            <a:srgbClr val="F7F3FA"/>
          </a:solidFill>
          <a:ln>
            <a:solidFill>
              <a:srgbClr val="E8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82880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E2CA2"/>
                </a:solidFill>
                <a:latin typeface="Arial"/>
              </a:rPr>
              <a:t>Exemplos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331720"/>
            <a:ext cx="24231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6332C"/>
                </a:solidFill>
                <a:latin typeface="Arial"/>
              </a:rPr>
              <a:t>Goiânia
−3,73 °C em dias &gt;TX90
−2,83 °C nos demais
Porto Alegre
−2,62 °C em dias &gt;TX90
−1,50 °C nos demais
Brasília
−1,07 °C em dias &gt;TX90
−0,31 °C nos demais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709160"/>
            <a:ext cx="2514600" cy="713232"/>
          </a:xfrm>
          <a:prstGeom prst="roundRect">
            <a:avLst/>
          </a:prstGeom>
          <a:solidFill>
            <a:srgbClr val="EAF1EB"/>
          </a:solidFill>
          <a:ln>
            <a:solidFill>
              <a:srgbClr val="EA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487375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40" b="1">
                <a:solidFill>
                  <a:srgbClr val="0B6E4F"/>
                </a:solidFill>
                <a:latin typeface="Arial"/>
              </a:rPr>
              <a:t>Leitura: os extremos quentes tendem a ser amortecidos pelo ERA5-Land.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25312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5B675F"/>
                </a:solidFill>
                <a:latin typeface="Arial"/>
              </a:rPr>
              <a:t>O diagnóstico por percentis P50/P90/P95/P99 não é monotônico em todas as cidades; o contraste 'dias quentes observados × demais dias' é o sinal mais consistente.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537960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7D8A82"/>
                </a:solidFill>
                <a:latin typeface="Arial"/>
              </a:rPr>
              <a:t>Fonte dos dados: MapBiomas / ERA5-Land / estações meteorológicas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0" cy="73152"/>
          </a:xfrm>
          <a:prstGeom prst="rect">
            <a:avLst/>
          </a:prstGeom>
          <a:solidFill>
            <a:srgbClr val="56B6C7"/>
          </a:solidFill>
          <a:ln>
            <a:solidFill>
              <a:srgbClr val="56B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0" y="0"/>
            <a:ext cx="2880360" cy="73152"/>
          </a:xfrm>
          <a:prstGeom prst="rect">
            <a:avLst/>
          </a:prstGeom>
          <a:solidFill>
            <a:srgbClr val="F2A23A"/>
          </a:solidFill>
          <a:ln>
            <a:solidFill>
              <a:srgbClr val="F2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3593592" cy="73152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B6E4F"/>
                </a:solidFill>
                <a:latin typeface="Arial"/>
              </a:rPr>
              <a:t>MAPBIOMAS ATMOSFERA | Validação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66928"/>
            <a:ext cx="11064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6E4F"/>
                </a:solidFill>
                <a:latin typeface="Play"/>
              </a:rPr>
              <a:t>Por que a V2 funciona apesar do bias absoluto da Tmax?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5A50"/>
                </a:solidFill>
                <a:latin typeface="Arial"/>
              </a:rPr>
              <a:t>A metodologia é relativa: o limiar TX90 é calculado no próprio ERA5-Land.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4800600" cy="4160520"/>
          </a:xfrm>
          <a:prstGeom prst="roundRect">
            <a:avLst/>
          </a:prstGeom>
          <a:solidFill>
            <a:srgbClr val="F4F8F6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6E4F"/>
                </a:solidFill>
                <a:latin typeface="Arial"/>
              </a:rPr>
              <a:t>Mecanismo de compensação parcial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423160"/>
            <a:ext cx="1600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6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2432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6332C"/>
                </a:solidFill>
                <a:latin typeface="Arial"/>
              </a:rPr>
              <a:t>Tmax estação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423160"/>
            <a:ext cx="1600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6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62432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6332C"/>
                </a:solidFill>
                <a:latin typeface="Arial"/>
              </a:rPr>
              <a:t>TX90 estação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2542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6E4F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600200" cy="640080"/>
          </a:xfrm>
          <a:prstGeom prst="roundRect">
            <a:avLst/>
          </a:prstGeom>
          <a:solidFill>
            <a:srgbClr val="F7F3FA"/>
          </a:solidFill>
          <a:ln>
            <a:solidFill>
              <a:srgbClr val="E8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E2CA2"/>
                </a:solidFill>
                <a:latin typeface="Arial"/>
              </a:rPr>
              <a:t>Tmax ERA5
mais fria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703320"/>
            <a:ext cx="1600200" cy="640080"/>
          </a:xfrm>
          <a:prstGeom prst="roundRect">
            <a:avLst/>
          </a:prstGeom>
          <a:solidFill>
            <a:srgbClr val="F7F3FA"/>
          </a:solidFill>
          <a:ln>
            <a:solidFill>
              <a:srgbClr val="E8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822191"/>
            <a:ext cx="1417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8E2CA2"/>
                </a:solidFill>
                <a:latin typeface="Arial"/>
              </a:rPr>
              <a:t>TX90 ERA5
também mais baixo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0904" y="3822191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E2CA2"/>
                </a:solidFill>
                <a:latin typeface="Arial"/>
              </a:rPr>
              <a:t>→</a:t>
            </a:r>
          </a:p>
        </p:txBody>
      </p:sp>
      <p:sp>
        <p:nvSpPr>
          <p:cNvPr id="21" name="Diamond 20"/>
          <p:cNvSpPr/>
          <p:nvPr/>
        </p:nvSpPr>
        <p:spPr>
          <a:xfrm>
            <a:off x="1965960" y="4617720"/>
            <a:ext cx="2011680" cy="960120"/>
          </a:xfrm>
          <a:prstGeom prst="diamond">
            <a:avLst/>
          </a:prstGeom>
          <a:solidFill>
            <a:srgbClr val="EAF1EB"/>
          </a:solidFill>
          <a:ln>
            <a:solidFill>
              <a:srgbClr val="E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1992" y="4873752"/>
            <a:ext cx="1508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B6E4F"/>
                </a:solidFill>
                <a:latin typeface="Arial"/>
              </a:rPr>
              <a:t>Comparação relativa
Tmax &gt; TX90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13248"/>
            <a:ext cx="4297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30" b="0">
                <a:solidFill>
                  <a:srgbClr val="5B675F"/>
                </a:solidFill>
                <a:latin typeface="Arial"/>
              </a:rPr>
              <a:t>O offset absoluto não desaparece, mas parte dele é absorvida porque o limiar também se desloca.</a:t>
            </a:r>
          </a:p>
        </p:txBody>
      </p:sp>
      <p:pic>
        <p:nvPicPr>
          <p:cNvPr id="24" name="Picture 23" descr="tx90_bias_fact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63040"/>
            <a:ext cx="5715000" cy="341859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989320" y="5413248"/>
            <a:ext cx="4983480" cy="658368"/>
          </a:xfrm>
          <a:prstGeom prst="roundRect">
            <a:avLst/>
          </a:prstGeom>
          <a:solidFill>
            <a:srgbClr val="FFF6E8"/>
          </a:solidFill>
          <a:ln>
            <a:solidFill>
              <a:srgbClr val="F3D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5577840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C4C1C"/>
                </a:solidFill>
                <a:latin typeface="Arial"/>
              </a:rPr>
              <a:t>Compensação é parcial: diferenças de variabilidade diária e persistência ainda alteram quais dias entram em sequências ≥6.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537960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7D8A82"/>
                </a:solidFill>
                <a:latin typeface="Arial"/>
              </a:rPr>
              <a:t>Fonte dos dados: MapBiomas / ERA5-Land / estações meteorológicas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0" cy="73152"/>
          </a:xfrm>
          <a:prstGeom prst="rect">
            <a:avLst/>
          </a:prstGeom>
          <a:solidFill>
            <a:srgbClr val="56B6C7"/>
          </a:solidFill>
          <a:ln>
            <a:solidFill>
              <a:srgbClr val="56B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0" y="0"/>
            <a:ext cx="2880360" cy="73152"/>
          </a:xfrm>
          <a:prstGeom prst="rect">
            <a:avLst/>
          </a:prstGeom>
          <a:solidFill>
            <a:srgbClr val="F2A23A"/>
          </a:solidFill>
          <a:ln>
            <a:solidFill>
              <a:srgbClr val="F2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3593592" cy="73152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B6E4F"/>
                </a:solidFill>
                <a:latin typeface="Arial"/>
              </a:rPr>
              <a:t>MAPBIOMAS ATMOSFERA | Validação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66928"/>
            <a:ext cx="11064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6E4F"/>
                </a:solidFill>
                <a:latin typeface="Play"/>
              </a:rPr>
              <a:t>Da Tmax ao evento: onde a persistência funciona melhor?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5A50"/>
                </a:solidFill>
                <a:latin typeface="Arial"/>
              </a:rPr>
              <a:t>F1 avalia a concordância diária de extremos e de dias pertencentes a sequências WSDI.</a:t>
            </a:r>
          </a:p>
        </p:txBody>
      </p:sp>
      <p:pic>
        <p:nvPicPr>
          <p:cNvPr id="9" name="Picture 8" descr="f1_hot_wsdi_fact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818120" cy="34245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1572768"/>
            <a:ext cx="2880360" cy="4160520"/>
          </a:xfrm>
          <a:prstGeom prst="roundRect">
            <a:avLst/>
          </a:prstGeom>
          <a:solidFill>
            <a:srgbClr val="F4F8F6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6528" y="18288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6E4F"/>
                </a:solidFill>
                <a:latin typeface="Arial"/>
              </a:rPr>
              <a:t>Leitura por cidade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267712"/>
            <a:ext cx="228600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332C"/>
                </a:solidFill>
                <a:latin typeface="Arial"/>
              </a:rPr>
              <a:t>Porto Alegre
F1 TX90 = 0,76
F1 WSDI = 0,72
Curitiba
0,68 / 0,66
Manaus
alto recall de dias de evento (0,82), mas baixa precisão (0,32) → sobre-detecção
Salvador
F1 WSDI = 0,18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6528" y="5093208"/>
            <a:ext cx="2240280" cy="457200"/>
          </a:xfrm>
          <a:prstGeom prst="roundRect">
            <a:avLst/>
          </a:prstGeom>
          <a:solidFill>
            <a:srgbClr val="EAF1EB"/>
          </a:solidFill>
          <a:ln>
            <a:solidFill>
              <a:srgbClr val="EA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5202936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B6E4F"/>
                </a:solidFill>
                <a:latin typeface="Arial"/>
              </a:rPr>
              <a:t>Persistência é mais difícil que um único dia &gt;TX90.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37960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7D8A82"/>
                </a:solidFill>
                <a:latin typeface="Arial"/>
              </a:rPr>
              <a:t>Fonte dos dados: MapBiomas / ERA5-Land / estações meteorológicas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0" cy="73152"/>
          </a:xfrm>
          <a:prstGeom prst="rect">
            <a:avLst/>
          </a:prstGeom>
          <a:solidFill>
            <a:srgbClr val="56B6C7"/>
          </a:solidFill>
          <a:ln>
            <a:solidFill>
              <a:srgbClr val="56B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0" y="0"/>
            <a:ext cx="2880360" cy="73152"/>
          </a:xfrm>
          <a:prstGeom prst="rect">
            <a:avLst/>
          </a:prstGeom>
          <a:solidFill>
            <a:srgbClr val="F2A23A"/>
          </a:solidFill>
          <a:ln>
            <a:solidFill>
              <a:srgbClr val="F2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3593592" cy="73152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B6E4F"/>
                </a:solidFill>
                <a:latin typeface="Arial"/>
              </a:rPr>
              <a:t>MAPBIOMAS ATMOSFERA | Validação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66928"/>
            <a:ext cx="11064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6E4F"/>
                </a:solidFill>
                <a:latin typeface="Play"/>
              </a:rPr>
              <a:t>Síntese por capital: onde a evidência é mais forte ou mais incerta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5A50"/>
                </a:solidFill>
                <a:latin typeface="Arial"/>
              </a:rPr>
              <a:t>Classificação diagnóstica para orientar discussão técnica — não é um mapa de qualidade nacional.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3429000" cy="4434840"/>
          </a:xfrm>
          <a:prstGeom prst="roundRect">
            <a:avLst/>
          </a:prstGeom>
          <a:solidFill>
            <a:srgbClr val="F7F9F7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3429000" cy="164592"/>
          </a:xfrm>
          <a:prstGeom prst="rect">
            <a:avLst/>
          </a:prstGeom>
          <a:solidFill>
            <a:srgbClr val="0B6E4F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74519"/>
            <a:ext cx="30266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B6E4F"/>
                </a:solidFill>
                <a:latin typeface="Arial"/>
              </a:rPr>
              <a:t>Evidência mais consistente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332C"/>
                </a:solidFill>
                <a:latin typeface="Arial"/>
              </a:rPr>
              <a:t>Porto Alegre
Curitiba
Brasília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2788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5B675F"/>
                </a:solidFill>
                <a:latin typeface="Arial"/>
              </a:rPr>
              <a:t>Boa associação diária; erros menores ou moderados; skill WSDI relativamente mais alto.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3429000" cy="4434840"/>
          </a:xfrm>
          <a:prstGeom prst="roundRect">
            <a:avLst/>
          </a:prstGeom>
          <a:solidFill>
            <a:srgbClr val="F7F9F7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00200"/>
            <a:ext cx="3429000" cy="164592"/>
          </a:xfrm>
          <a:prstGeom prst="rect">
            <a:avLst/>
          </a:prstGeom>
          <a:solidFill>
            <a:srgbClr val="F2A23A"/>
          </a:solidFill>
          <a:ln>
            <a:solidFill>
              <a:srgbClr val="F2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874519"/>
            <a:ext cx="30266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A23A"/>
                </a:solidFill>
                <a:latin typeface="Arial"/>
              </a:rPr>
              <a:t>Boa capacidade com ressalvas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468880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332C"/>
                </a:solidFill>
                <a:latin typeface="Arial"/>
              </a:rPr>
              <a:t>São Paulo
Goiânia
Belo Horizonte
Belém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931920"/>
            <a:ext cx="2788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5B675F"/>
                </a:solidFill>
                <a:latin typeface="Arial"/>
              </a:rPr>
              <a:t>A variabilidade é bem capturada em vários casos, mas o bias absoluto e/ou a persistência reduzem a concordância.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600200"/>
            <a:ext cx="3429000" cy="4434840"/>
          </a:xfrm>
          <a:prstGeom prst="roundRect">
            <a:avLst/>
          </a:prstGeom>
          <a:solidFill>
            <a:srgbClr val="F7F9F7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600200"/>
            <a:ext cx="3429000" cy="164592"/>
          </a:xfrm>
          <a:prstGeom prst="rect">
            <a:avLst/>
          </a:prstGeom>
          <a:solidFill>
            <a:srgbClr val="8E2CA2"/>
          </a:solidFill>
          <a:ln>
            <a:solidFill>
              <a:srgbClr val="8E2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1874519"/>
            <a:ext cx="30266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8E2CA2"/>
                </a:solidFill>
                <a:latin typeface="Arial"/>
              </a:rPr>
              <a:t>Maior incerteza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468880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332C"/>
                </a:solidFill>
                <a:latin typeface="Arial"/>
              </a:rPr>
              <a:t>Manaus
Salvador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931920"/>
            <a:ext cx="2788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5B675F"/>
                </a:solidFill>
                <a:latin typeface="Arial"/>
              </a:rPr>
              <a:t>Manaus: forte correlação anual, mas sobre-detecção de magnitude. Salvador: baixa concordância de sequências WSDI.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0B6E4F"/>
                </a:solidFill>
                <a:latin typeface="Arial"/>
              </a:rPr>
              <a:t>Implicação: a validação nacional deve comunicar incerteza espacial. A V2 é a melhor versão, mas o desempenho não é homogêneo entre cidades.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37960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7D8A82"/>
                </a:solidFill>
                <a:latin typeface="Arial"/>
              </a:rPr>
              <a:t>Fonte dos dados: MapBiomas / ERA5-Land / estações meteorológicas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Validação de ondas de calor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22</a:t>
            </a:r>
          </a:p>
        </p:txBody>
      </p:sp>
      <p:sp>
        <p:nvSpPr>
          <p:cNvPr id="293" name="Google Shape;293;p14"/>
          <p:cNvSpPr/>
          <p:nvPr/>
        </p:nvSpPr>
        <p:spPr>
          <a:xfrm>
            <a:off x="320040" y="56692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O que dá confiança — e o que precisa acompanhar a publicação</a:t>
            </a:r>
          </a:p>
        </p:txBody>
      </p:sp>
      <p:sp>
        <p:nvSpPr>
          <p:cNvPr id="294" name="Google Shape;294;p14"/>
          <p:cNvSpPr/>
          <p:nvPr/>
        </p:nvSpPr>
        <p:spPr>
          <a:xfrm>
            <a:off x="338328" y="9875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As duas linhas de evidência são convergentes, mas a publicação deve explicitar as limitações.</a:t>
            </a:r>
          </a:p>
        </p:txBody>
      </p:sp>
      <p:sp>
        <p:nvSpPr>
          <p:cNvPr id="295" name="Google Shape;295;p14"/>
          <p:cNvSpPr/>
          <p:nvPr/>
        </p:nvSpPr>
        <p:spPr>
          <a:xfrm>
            <a:off x="685800" y="13258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Pontos fortes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822960" y="17373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r>
              <a:t>• Mesma regra de calendário e mesmos pontos de referência urbana.</a:t>
            </a:r>
          </a:p>
        </p:txBody>
      </p:sp>
      <p:sp>
        <p:nvSpPr>
          <p:cNvPr id="297" name="Google Shape;297;p14"/>
          <p:cNvSpPr/>
          <p:nvPr/>
        </p:nvSpPr>
        <p:spPr>
          <a:xfrm>
            <a:off x="822960" y="224028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r>
              <a:t>• Validação do produto em escala mensal e anual.</a:t>
            </a:r>
          </a:p>
        </p:txBody>
      </p:sp>
      <p:sp>
        <p:nvSpPr>
          <p:cNvPr id="298" name="Google Shape;298;p14"/>
          <p:cNvSpPr/>
          <p:nvPr/>
        </p:nvSpPr>
        <p:spPr>
          <a:xfrm>
            <a:off x="822960" y="274320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r>
              <a:t>• Validação independente da Tmax diária: 134 mil pares observação × ERA5.</a:t>
            </a:r>
          </a:p>
        </p:txBody>
      </p:sp>
      <p:sp>
        <p:nvSpPr>
          <p:cNvPr id="299" name="Google Shape;299;p14"/>
          <p:cNvSpPr/>
          <p:nvPr/>
        </p:nvSpPr>
        <p:spPr>
          <a:xfrm>
            <a:off x="822960" y="324612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r>
              <a:t>• Múltiplas métricas + extremos, TX90, lag temporal e persistência.</a:t>
            </a:r>
          </a:p>
        </p:txBody>
      </p:sp>
      <p:sp>
        <p:nvSpPr>
          <p:cNvPr id="300" name="Google Shape;300;p14"/>
          <p:cNvSpPr/>
          <p:nvPr/>
        </p:nvSpPr>
        <p:spPr>
          <a:xfrm>
            <a:off x="6172200" y="13258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333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73336"/>
                </a:solidFill>
                <a:latin typeface="Arial"/>
                <a:ea typeface="Arial"/>
                <a:cs typeface="Arial"/>
                <a:sym typeface="Arial"/>
              </a:rPr>
              <a:t>Limitações a declarar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309360" y="173736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r>
              <a:t>• Estações são pontos; ERA5-Land é uma célula ~11 km no centroide urbano.</a:t>
            </a:r>
          </a:p>
        </p:txBody>
      </p:sp>
      <p:sp>
        <p:nvSpPr>
          <p:cNvPr id="302" name="Google Shape;302;p14"/>
          <p:cNvSpPr/>
          <p:nvPr/>
        </p:nvSpPr>
        <p:spPr>
          <a:xfrm>
            <a:off x="6309360" y="22402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r>
              <a:t>• Listas de eventos não documentam completamente o método original de detecção.</a:t>
            </a:r>
          </a:p>
        </p:txBody>
      </p:sp>
      <p:sp>
        <p:nvSpPr>
          <p:cNvPr id="303" name="Google Shape;303;p14"/>
          <p:cNvSpPr/>
          <p:nvPr/>
        </p:nvSpPr>
        <p:spPr>
          <a:xfrm>
            <a:off x="6309360" y="27432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r>
              <a:t>• Metadados de relocação/instrumentação das estações ainda não foram modelados.</a:t>
            </a:r>
          </a:p>
        </p:txBody>
      </p:sp>
      <p:sp>
        <p:nvSpPr>
          <p:cNvPr id="304" name="Google Shape;304;p14"/>
          <p:cNvSpPr/>
          <p:nvPr/>
        </p:nvSpPr>
        <p:spPr>
          <a:xfrm>
            <a:off x="6309360" y="324612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r>
              <a:t>• Nove capitais não representam toda a diversidade rural/urbana e todos os biomas.</a:t>
            </a:r>
          </a:p>
        </p:txBody>
      </p:sp>
      <p:sp>
        <p:nvSpPr>
          <p:cNvPr id="305" name="Google Shape;305;p14"/>
          <p:cNvSpPr/>
          <p:nvPr/>
        </p:nvSpPr>
        <p:spPr>
          <a:xfrm>
            <a:off x="685800" y="4892040"/>
            <a:ext cx="10607040" cy="804672"/>
          </a:xfrm>
          <a:prstGeom prst="rect">
            <a:avLst/>
          </a:prstGeom>
          <a:solidFill>
            <a:srgbClr val="F5F8F3"/>
          </a:solidFill>
          <a:ln cap="flat" cmpd="sng" w="12700">
            <a:solidFill>
              <a:srgbClr val="DE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914400" y="50749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Interpretação defendável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2926080" y="5056632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r>
              <a:rPr sz="1050"/>
              <a:t>A evidência apoia a V2 para ocorrência e número de dias. O bias frio da Tmax absoluta não invalida o índice percentílico, mas precisa ser documentado; duração continua sendo o componente mais incerto.</a:t>
            </a:r>
          </a:p>
        </p:txBody>
      </p:sp>
      <p:sp>
        <p:nvSpPr>
          <p:cNvPr id="308" name="Google Shape;308;p14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Fonte dos dados: MapBiomas / ERA5-Land / listas de eventos de estações meteorológicas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6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6E4F"/>
          </a:solidFill>
          <a:ln cap="flat" cmpd="sng" w="12700">
            <a:solidFill>
              <a:srgbClr val="0B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3017520" y="0"/>
            <a:ext cx="2468880" cy="73152"/>
          </a:xfrm>
          <a:prstGeom prst="rect">
            <a:avLst/>
          </a:prstGeom>
          <a:solidFill>
            <a:srgbClr val="60C2D6"/>
          </a:solidFill>
          <a:ln cap="flat" cmpd="sng" w="12700">
            <a:solidFill>
              <a:srgbClr val="60C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5486400" y="0"/>
            <a:ext cx="2468880" cy="73152"/>
          </a:xfrm>
          <a:prstGeom prst="rect">
            <a:avLst/>
          </a:prstGeom>
          <a:solidFill>
            <a:srgbClr val="F28E2B"/>
          </a:solidFill>
          <a:ln cap="flat" cmpd="sng" w="12700">
            <a:solidFill>
              <a:srgbClr val="F28E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320040" y="1828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6E4F"/>
                </a:solidFill>
                <a:latin typeface="Arial"/>
                <a:ea typeface="Arial"/>
                <a:cs typeface="Arial"/>
                <a:sym typeface="Arial"/>
              </a:rPr>
              <a:t>MAPBIOMAS ATMOSFERA | Recomendação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11475720" y="182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800">
                <a:solidFill>
                  <a:srgbClr val="9AA59C"/>
                </a:solidFill>
                <a:latin typeface="Arial"/>
              </a:rPr>
              <a:t>23</a:t>
            </a:r>
          </a:p>
        </p:txBody>
      </p:sp>
      <p:sp>
        <p:nvSpPr>
          <p:cNvPr id="319" name="Google Shape;319;p15"/>
          <p:cNvSpPr/>
          <p:nvPr/>
        </p:nvSpPr>
        <p:spPr>
          <a:xfrm>
            <a:off x="640080" y="8686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Recomendação para decisão de publicação</a:t>
            </a:r>
          </a:p>
        </p:txBody>
      </p:sp>
      <p:sp>
        <p:nvSpPr>
          <p:cNvPr id="320" name="Google Shape;320;p15"/>
          <p:cNvSpPr/>
          <p:nvPr/>
        </p:nvSpPr>
        <p:spPr>
          <a:xfrm>
            <a:off x="658368" y="15087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Publicação da V2 é tecnicamente viável, condicionada à documentação das incertezas</a:t>
            </a:r>
          </a:p>
        </p:txBody>
      </p:sp>
      <p:sp>
        <p:nvSpPr>
          <p:cNvPr id="321" name="Google Shape;321;p15"/>
          <p:cNvSpPr/>
          <p:nvPr/>
        </p:nvSpPr>
        <p:spPr>
          <a:xfrm>
            <a:off x="822960" y="2240280"/>
            <a:ext cx="411480" cy="411480"/>
          </a:xfrm>
          <a:prstGeom prst="ellipse">
            <a:avLst/>
          </a:prstGeom>
          <a:solidFill>
            <a:srgbClr val="8E2CA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822960" y="23225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1417320" y="22219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VERDE | publicar</a:t>
            </a:r>
          </a:p>
        </p:txBody>
      </p:sp>
      <p:sp>
        <p:nvSpPr>
          <p:cNvPr id="324" name="Google Shape;324;p15"/>
          <p:cNvSpPr/>
          <p:nvPr/>
        </p:nvSpPr>
        <p:spPr>
          <a:xfrm>
            <a:off x="1417320" y="2551176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heatwave_days, event_count e ocorrência mensal/anual da V2.</a:t>
            </a:r>
          </a:p>
        </p:txBody>
      </p:sp>
      <p:sp>
        <p:nvSpPr>
          <p:cNvPr id="325" name="Google Shape;325;p15"/>
          <p:cNvSpPr/>
          <p:nvPr/>
        </p:nvSpPr>
        <p:spPr>
          <a:xfrm>
            <a:off x="822960" y="3246120"/>
            <a:ext cx="411480" cy="411480"/>
          </a:xfrm>
          <a:prstGeom prst="ellipse">
            <a:avLst/>
          </a:prstGeom>
          <a:solidFill>
            <a:srgbClr val="0B6E4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822960" y="332841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1417320" y="32278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AMARELO | publicar com cautela</a:t>
            </a:r>
          </a:p>
        </p:txBody>
      </p:sp>
      <p:sp>
        <p:nvSpPr>
          <p:cNvPr id="328" name="Google Shape;328;p15"/>
          <p:cNvSpPr/>
          <p:nvPr/>
        </p:nvSpPr>
        <p:spPr>
          <a:xfrm>
            <a:off x="1417320" y="3557016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max_event_duration e mean_event_duration: manter nota metodológica e análise de sensibilidade.</a:t>
            </a:r>
          </a:p>
        </p:txBody>
      </p:sp>
      <p:sp>
        <p:nvSpPr>
          <p:cNvPr id="329" name="Google Shape;329;p15"/>
          <p:cNvSpPr/>
          <p:nvPr/>
        </p:nvSpPr>
        <p:spPr>
          <a:xfrm>
            <a:off x="822960" y="4251960"/>
            <a:ext cx="411480" cy="411480"/>
          </a:xfrm>
          <a:prstGeom prst="ellipse">
            <a:avLst/>
          </a:prstGeom>
          <a:solidFill>
            <a:srgbClr val="0B6E4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822960" y="433425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1417320" y="42336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Condições antes do release</a:t>
            </a:r>
          </a:p>
        </p:txBody>
      </p:sp>
      <p:sp>
        <p:nvSpPr>
          <p:cNvPr id="332" name="Google Shape;332;p15"/>
          <p:cNvSpPr/>
          <p:nvPr/>
        </p:nvSpPr>
        <p:spPr>
          <a:xfrm>
            <a:off x="1417320" y="4562856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919"/>
              <a:t>Documentar TX90/WSDI, agregação e QC; registrar representatividade estação × ERA5; planejar expansão para mais estações e coordenadas exatas.</a:t>
            </a:r>
          </a:p>
        </p:txBody>
      </p:sp>
      <p:sp>
        <p:nvSpPr>
          <p:cNvPr id="333" name="Google Shape;333;p15"/>
          <p:cNvSpPr/>
          <p:nvPr/>
        </p:nvSpPr>
        <p:spPr>
          <a:xfrm>
            <a:off x="8092440" y="1143000"/>
            <a:ext cx="2926080" cy="4983480"/>
          </a:xfrm>
          <a:prstGeom prst="diamond">
            <a:avLst/>
          </a:prstGeom>
          <a:solidFill>
            <a:srgbClr val="EAF2E8"/>
          </a:solidFill>
          <a:ln cap="flat" cmpd="sng" w="12700">
            <a:solidFill>
              <a:srgbClr val="DCE8D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8321040" y="2438705"/>
            <a:ext cx="2468880" cy="2491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r>
              <a:t>V2</a:t>
            </a:r>
          </a:p>
          <a:p/>
          <a:p>
            <a:r>
              <a:t>melhor skill</a:t>
            </a:r>
          </a:p>
          <a:p>
            <a:r>
              <a:t>2 linhas de evidência</a:t>
            </a:r>
          </a:p>
          <a:p>
            <a:r>
              <a:t>bias conhecido</a:t>
            </a:r>
          </a:p>
          <a:p>
            <a:r>
              <a:t>incerteza documentável</a:t>
            </a:r>
          </a:p>
        </p:txBody>
      </p:sp>
      <p:sp>
        <p:nvSpPr>
          <p:cNvPr id="335" name="Google Shape;335;p15"/>
          <p:cNvSpPr/>
          <p:nvPr/>
        </p:nvSpPr>
        <p:spPr>
          <a:xfrm>
            <a:off x="841248" y="566928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Decisão sugerida</a:t>
            </a:r>
          </a:p>
        </p:txBody>
      </p:sp>
      <p:sp>
        <p:nvSpPr>
          <p:cNvPr id="336" name="Google Shape;336;p15"/>
          <p:cNvSpPr/>
          <p:nvPr/>
        </p:nvSpPr>
        <p:spPr>
          <a:xfrm>
            <a:off x="2240280" y="5650992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r>
              <a:rPr sz="1050"/>
              <a:t>Adotar a V2 como referência publicável para dias e ocorrência. Não recomendar a V1 como produto de referência; manter duração como componente de maior cautela.</a:t>
            </a:r>
          </a:p>
        </p:txBody>
      </p:sp>
      <p:sp>
        <p:nvSpPr>
          <p:cNvPr id="337" name="Google Shape;337;p15"/>
          <p:cNvSpPr/>
          <p:nvPr/>
        </p:nvSpPr>
        <p:spPr>
          <a:xfrm>
            <a:off x="320040" y="6583680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82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D8A82"/>
                </a:solidFill>
                <a:latin typeface="Arial"/>
                <a:ea typeface="Arial"/>
                <a:cs typeface="Arial"/>
                <a:sym typeface="Arial"/>
              </a:rPr>
              <a:t>Fonte dos dados: MapBiomas / ERA5-Land / listas de eventos de estações meteorológicas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2026-10-07T14:23:22Z</dcterms:created>
  <dc:creator>OpenAI</dc:creator>
</cp:coreProperties>
</file>